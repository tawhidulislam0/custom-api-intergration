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Plus Jakarta Sans"/>
      <p:regular r:id="rId18"/>
      <p:bold r:id="rId19"/>
      <p:italic r:id="rId20"/>
      <p:boldItalic r:id="rId21"/>
    </p:embeddedFont>
    <p:embeddedFont>
      <p:font typeface="Inter"/>
      <p:regular r:id="rId22"/>
      <p:bold r:id="rId23"/>
      <p:italic r:id="rId24"/>
      <p:boldItalic r:id="rId25"/>
    </p:embeddedFont>
    <p:embeddedFont>
      <p:font typeface="Plus Jakarta Sans SemiBold"/>
      <p:regular r:id="rId26"/>
      <p:bold r:id="rId27"/>
      <p:italic r:id="rId28"/>
      <p:boldItalic r:id="rId29"/>
    </p:embeddedFont>
    <p:embeddedFont>
      <p:font typeface="Fira Code SemiBold"/>
      <p:regular r:id="rId30"/>
      <p:bold r:id="rId31"/>
    </p:embeddedFont>
    <p:embeddedFont>
      <p:font typeface="Fira Code"/>
      <p:regular r:id="rId32"/>
      <p:bold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usJakartaSans-italic.fntdata"/><Relationship Id="rId22" Type="http://schemas.openxmlformats.org/officeDocument/2006/relationships/font" Target="fonts/Inter-regular.fntdata"/><Relationship Id="rId21" Type="http://schemas.openxmlformats.org/officeDocument/2006/relationships/font" Target="fonts/PlusJakartaSans-boldItalic.fntdata"/><Relationship Id="rId24" Type="http://schemas.openxmlformats.org/officeDocument/2006/relationships/font" Target="fonts/Inter-italic.fntdata"/><Relationship Id="rId23" Type="http://schemas.openxmlformats.org/officeDocument/2006/relationships/font" Target="fonts/Inter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lusJakartaSansSemiBold-regular.fntdata"/><Relationship Id="rId25" Type="http://schemas.openxmlformats.org/officeDocument/2006/relationships/font" Target="fonts/Inter-boldItalic.fntdata"/><Relationship Id="rId28" Type="http://schemas.openxmlformats.org/officeDocument/2006/relationships/font" Target="fonts/PlusJakartaSansSemiBold-italic.fntdata"/><Relationship Id="rId27" Type="http://schemas.openxmlformats.org/officeDocument/2006/relationships/font" Target="fonts/PlusJakartaSansSemi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lusJakartaSansSemiBold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FiraCodeSemiBold-bold.fntdata"/><Relationship Id="rId30" Type="http://schemas.openxmlformats.org/officeDocument/2006/relationships/font" Target="fonts/FiraCodeSemiBold-regular.fntdata"/><Relationship Id="rId11" Type="http://schemas.openxmlformats.org/officeDocument/2006/relationships/slide" Target="slides/slide6.xml"/><Relationship Id="rId33" Type="http://schemas.openxmlformats.org/officeDocument/2006/relationships/font" Target="fonts/FiraCode-bold.fntdata"/><Relationship Id="rId10" Type="http://schemas.openxmlformats.org/officeDocument/2006/relationships/slide" Target="slides/slide5.xml"/><Relationship Id="rId32" Type="http://schemas.openxmlformats.org/officeDocument/2006/relationships/font" Target="fonts/FiraCode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PlusJakartaSans-bold.fntdata"/><Relationship Id="rId18" Type="http://schemas.openxmlformats.org/officeDocument/2006/relationships/font" Target="fonts/PlusJakartaSa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775f60a62_1_2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775f60a62_1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f775f60a62_1_2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f775f60a62_1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f775f60a62_1_2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f775f60a62_1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image" Target="../media/image8.png"/><Relationship Id="rId8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Relationship Id="rId5" Type="http://schemas.openxmlformats.org/officeDocument/2006/relationships/image" Target="../media/image6.png"/><Relationship Id="rId6" Type="http://schemas.openxmlformats.org/officeDocument/2006/relationships/image" Target="../media/image3.png"/><Relationship Id="rId7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Relationship Id="rId5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4.png"/><Relationship Id="rId9" Type="http://schemas.openxmlformats.org/officeDocument/2006/relationships/image" Target="../media/image18.png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image" Target="../media/image22.png"/><Relationship Id="rId8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17.png"/><Relationship Id="rId5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19.png"/><Relationship Id="rId5" Type="http://schemas.openxmlformats.org/officeDocument/2006/relationships/image" Target="../media/image21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4" name="Google Shape;5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1525428" y="2378571"/>
            <a:ext cx="9141142" cy="1270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4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50" u="none" cap="none" strike="noStrike">
                <a:solidFill>
                  <a:srgbClr val="1E1B4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SAP S/4HANA to Zetheta FinSight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350" u="none" cap="none" strike="noStrike">
                <a:solidFill>
                  <a:srgbClr val="1E1B4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Integration Platform</a:t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1743075" y="3839467"/>
            <a:ext cx="870585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Final Engineering Defense &amp; Project Handoff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5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Integration Engineering Team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/>
        </p:nvSpPr>
        <p:spPr>
          <a:xfrm>
            <a:off x="571500" y="476250"/>
            <a:ext cx="11601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Problem</a:t>
            </a:r>
            <a:endParaRPr/>
          </a:p>
        </p:txBody>
      </p:sp>
      <p:sp>
        <p:nvSpPr>
          <p:cNvPr id="62" name="Google Shape;62;p14"/>
          <p:cNvSpPr txBox="1"/>
          <p:nvPr/>
        </p:nvSpPr>
        <p:spPr>
          <a:xfrm>
            <a:off x="152400" y="891750"/>
            <a:ext cx="11044200" cy="37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2"/>
                </a:solidFill>
              </a:rPr>
              <a:t>Enterprise financial data is trapped behind rigid batch lags, delaying critical visibility.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b="1" lang="en-US" sz="1100">
                <a:solidFill>
                  <a:schemeClr val="dk2"/>
                </a:solidFill>
              </a:rPr>
              <a:t>[ 24hrs ]</a:t>
            </a:r>
            <a:r>
              <a:rPr lang="en-US" sz="1100">
                <a:solidFill>
                  <a:schemeClr val="dk2"/>
                </a:solidFill>
              </a:rPr>
              <a:t> </a:t>
            </a:r>
            <a:r>
              <a:rPr i="1" lang="en-US" sz="1100">
                <a:solidFill>
                  <a:schemeClr val="dk2"/>
                </a:solidFill>
              </a:rPr>
              <a:t>(Hero Callout)</a:t>
            </a:r>
            <a:br>
              <a:rPr i="1" lang="en-US" sz="1100">
                <a:solidFill>
                  <a:schemeClr val="dk2"/>
                </a:solidFill>
              </a:rPr>
            </a:br>
            <a:r>
              <a:rPr lang="en-US" sz="1100">
                <a:solidFill>
                  <a:schemeClr val="dk2"/>
                </a:solidFill>
              </a:rPr>
              <a:t>A noticeable operational gap between live SAP S/4HANA transactional postings and downstream financial analytics.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b="1" lang="en-US" sz="1100">
                <a:solidFill>
                  <a:schemeClr val="dk2"/>
                </a:solidFill>
              </a:rPr>
              <a:t>Cash Flow Blind Spots</a:t>
            </a:r>
            <a:br>
              <a:rPr b="1" lang="en-US" sz="1100">
                <a:solidFill>
                  <a:schemeClr val="dk2"/>
                </a:solidFill>
              </a:rPr>
            </a:br>
            <a:r>
              <a:rPr lang="en-US" sz="1100">
                <a:solidFill>
                  <a:schemeClr val="dk2"/>
                </a:solidFill>
              </a:rPr>
              <a:t>Treasury teams operate on delayed ledger balances, risking liquidity management across multiple company codes.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b="1" lang="en-US" sz="1100">
                <a:solidFill>
                  <a:schemeClr val="dk2"/>
                </a:solidFill>
              </a:rPr>
              <a:t>Late Variance Detection</a:t>
            </a:r>
            <a:br>
              <a:rPr b="1" lang="en-US" sz="1100">
                <a:solidFill>
                  <a:schemeClr val="dk2"/>
                </a:solidFill>
              </a:rPr>
            </a:br>
            <a:r>
              <a:rPr lang="en-US" sz="1100">
                <a:solidFill>
                  <a:schemeClr val="dk2"/>
                </a:solidFill>
              </a:rPr>
              <a:t>Cost center and material ledger overruns sit unnoticed in source systems instead of triggering immediate alerts.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b="1" lang="en-US" sz="1100">
                <a:solidFill>
                  <a:schemeClr val="dk2"/>
                </a:solidFill>
              </a:rPr>
              <a:t>Compliance &amp; Risk Exposure</a:t>
            </a:r>
            <a:br>
              <a:rPr b="1" lang="en-US" sz="1100">
                <a:solidFill>
                  <a:schemeClr val="dk2"/>
                </a:solidFill>
              </a:rPr>
            </a:br>
            <a:r>
              <a:rPr lang="en-US" sz="1100">
                <a:solidFill>
                  <a:schemeClr val="dk2"/>
                </a:solidFill>
              </a:rPr>
              <a:t>Manual processing and delayed accounts data leave audit trails vulnerable and reporting cycles reactive.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b="1" lang="en-US" sz="1100">
                <a:solidFill>
                  <a:schemeClr val="dk2"/>
                </a:solidFill>
              </a:rPr>
              <a:t>Manual Reconciliation Overload</a:t>
            </a:r>
            <a:br>
              <a:rPr b="1" lang="en-US" sz="1100">
                <a:solidFill>
                  <a:schemeClr val="dk2"/>
                </a:solidFill>
              </a:rPr>
            </a:br>
            <a:r>
              <a:rPr lang="en-US" sz="1100">
                <a:solidFill>
                  <a:schemeClr val="dk2"/>
                </a:solidFill>
              </a:rPr>
              <a:t>Teams are burdened by manual data entry and reconciliation efforts that consume 120 hours every month.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b="1" lang="en-US" sz="1100">
                <a:solidFill>
                  <a:schemeClr val="dk2"/>
                </a:solidFill>
              </a:rPr>
              <a:t>High Data Error Rates</a:t>
            </a:r>
            <a:br>
              <a:rPr b="1" lang="en-US" sz="1100">
                <a:solidFill>
                  <a:schemeClr val="dk2"/>
                </a:solidFill>
              </a:rPr>
            </a:br>
            <a:r>
              <a:rPr lang="en-US" sz="1100">
                <a:solidFill>
                  <a:schemeClr val="dk2"/>
                </a:solidFill>
              </a:rPr>
              <a:t>Unvalidated payloads and lack of schema rules cause widespread data errors, requiring strict automated error handling and Dead-Letter Queues (DLQ) to prevent corruption.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2"/>
                </a:solidFill>
              </a:rPr>
              <a:t>As enterprise transaction volumes scale, this data lag creates severe friction for fast decision-making — our integration bridge eliminates this gap entirely.</a:t>
            </a:r>
            <a:endParaRPr sz="1100">
              <a:solidFill>
                <a:schemeClr val="dk2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i="1" sz="11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7" name="Google Shape;6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8" name="Google Shape;6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52700"/>
            <a:ext cx="3524250" cy="2419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9" name="Google Shape;6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3875" y="2552700"/>
            <a:ext cx="3524250" cy="2419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0" name="Google Shape;7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6250" y="2552700"/>
            <a:ext cx="3524250" cy="241935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 txBox="1"/>
          <p:nvPr/>
        </p:nvSpPr>
        <p:spPr>
          <a:xfrm>
            <a:off x="819150" y="3371850"/>
            <a:ext cx="318039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Business Objectives</a:t>
            </a:r>
            <a:endParaRPr/>
          </a:p>
        </p:txBody>
      </p:sp>
      <p:sp>
        <p:nvSpPr>
          <p:cNvPr id="72" name="Google Shape;72;p15"/>
          <p:cNvSpPr txBox="1"/>
          <p:nvPr/>
        </p:nvSpPr>
        <p:spPr>
          <a:xfrm>
            <a:off x="819150" y="3705225"/>
            <a:ext cx="3028950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Eliminate manual data entry, ensure real-time financial transparency across operations, and fully automate enterprise compliance reporting.</a:t>
            </a:r>
            <a:endParaRPr/>
          </a:p>
        </p:txBody>
      </p:sp>
      <p:sp>
        <p:nvSpPr>
          <p:cNvPr id="73" name="Google Shape;73;p15"/>
          <p:cNvSpPr txBox="1"/>
          <p:nvPr/>
        </p:nvSpPr>
        <p:spPr>
          <a:xfrm>
            <a:off x="4581525" y="3371850"/>
            <a:ext cx="318039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Manual Effort Reduced</a:t>
            </a:r>
            <a:endParaRPr/>
          </a:p>
        </p:txBody>
      </p:sp>
      <p:sp>
        <p:nvSpPr>
          <p:cNvPr id="74" name="Google Shape;74;p15"/>
          <p:cNvSpPr txBox="1"/>
          <p:nvPr/>
        </p:nvSpPr>
        <p:spPr>
          <a:xfrm>
            <a:off x="4581525" y="3705225"/>
            <a:ext cx="3028950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Cut manual reconciliation effort by </a:t>
            </a:r>
            <a:r>
              <a:rPr b="1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120 hours/month</a:t>
            </a:r>
            <a:r>
              <a:rPr b="0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through automated batch processing and scheduled balancing validation.</a:t>
            </a:r>
            <a:endParaRPr/>
          </a:p>
        </p:txBody>
      </p:sp>
      <p:sp>
        <p:nvSpPr>
          <p:cNvPr id="75" name="Google Shape;75;p15"/>
          <p:cNvSpPr txBox="1"/>
          <p:nvPr/>
        </p:nvSpPr>
        <p:spPr>
          <a:xfrm>
            <a:off x="8343900" y="3371850"/>
            <a:ext cx="318039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Error Reduction</a:t>
            </a:r>
            <a:endParaRPr/>
          </a:p>
        </p:txBody>
      </p:sp>
      <p:sp>
        <p:nvSpPr>
          <p:cNvPr id="76" name="Google Shape;76;p15"/>
          <p:cNvSpPr txBox="1"/>
          <p:nvPr/>
        </p:nvSpPr>
        <p:spPr>
          <a:xfrm>
            <a:off x="8343900" y="3705225"/>
            <a:ext cx="3028950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Achieved a </a:t>
            </a:r>
            <a:r>
              <a:rPr b="1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95% reduction in data error rates</a:t>
            </a:r>
            <a:r>
              <a:rPr b="0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utilizing strict schema validation rules and automated Dead-Letter Queues (DLQ).</a:t>
            </a:r>
            <a:endParaRPr/>
          </a:p>
        </p:txBody>
      </p:sp>
      <p:pic>
        <p:nvPicPr>
          <p:cNvPr descr="image.png" id="77" name="Google Shape;77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9150" y="287655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8" name="Google Shape;78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81525" y="2876550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9" name="Google Shape;79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43900" y="287655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5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Executive Summary &amp; Business Value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5" name="Google Shape;8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84698"/>
            <a:ext cx="11049000" cy="18408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" name="Google Shape;8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6775" y="2879973"/>
            <a:ext cx="3174950" cy="12503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8" name="Google Shape;8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08450" y="2879973"/>
            <a:ext cx="3174950" cy="12503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9" name="Google Shape;8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50125" y="2879973"/>
            <a:ext cx="3174950" cy="125030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6"/>
          <p:cNvSpPr txBox="1"/>
          <p:nvPr/>
        </p:nvSpPr>
        <p:spPr>
          <a:xfrm>
            <a:off x="1866900" y="4711303"/>
            <a:ext cx="8458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Secure end-to-end transport layer leveraging asynchronous message handling and exponential backoff retry policies.</a:t>
            </a:r>
            <a:endParaRPr/>
          </a:p>
        </p:txBody>
      </p:sp>
      <p:sp>
        <p:nvSpPr>
          <p:cNvPr id="91" name="Google Shape;91;p16"/>
          <p:cNvSpPr txBox="1"/>
          <p:nvPr/>
        </p:nvSpPr>
        <p:spPr>
          <a:xfrm>
            <a:off x="1007428" y="3292078"/>
            <a:ext cx="28935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SAP S/4HANA</a:t>
            </a:r>
            <a:endParaRPr/>
          </a:p>
        </p:txBody>
      </p:sp>
      <p:sp>
        <p:nvSpPr>
          <p:cNvPr id="92" name="Google Shape;92;p16"/>
          <p:cNvSpPr txBox="1"/>
          <p:nvPr/>
        </p:nvSpPr>
        <p:spPr>
          <a:xfrm>
            <a:off x="1076325" y="3549253"/>
            <a:ext cx="27558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1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Source ERP System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ODP Delta Streams</a:t>
            </a:r>
            <a:endParaRPr/>
          </a:p>
        </p:txBody>
      </p:sp>
      <p:pic>
        <p:nvPicPr>
          <p:cNvPr descr="image.png" id="93" name="Google Shape;93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184600" y="3400276"/>
            <a:ext cx="18097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6"/>
          <p:cNvSpPr txBox="1"/>
          <p:nvPr/>
        </p:nvSpPr>
        <p:spPr>
          <a:xfrm>
            <a:off x="4649104" y="3292078"/>
            <a:ext cx="289364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Integration Middleware</a:t>
            </a:r>
            <a:endParaRPr/>
          </a:p>
        </p:txBody>
      </p:sp>
      <p:sp>
        <p:nvSpPr>
          <p:cNvPr id="95" name="Google Shape;95;p16"/>
          <p:cNvSpPr txBox="1"/>
          <p:nvPr/>
        </p:nvSpPr>
        <p:spPr>
          <a:xfrm>
            <a:off x="4718000" y="3549253"/>
            <a:ext cx="27558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1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Node.js &amp; Express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Transformation &amp; DLQ</a:t>
            </a:r>
            <a:endParaRPr/>
          </a:p>
        </p:txBody>
      </p:sp>
      <p:pic>
        <p:nvPicPr>
          <p:cNvPr descr="image.png" id="96" name="Google Shape;96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826275" y="3400276"/>
            <a:ext cx="18097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6"/>
          <p:cNvSpPr txBox="1"/>
          <p:nvPr/>
        </p:nvSpPr>
        <p:spPr>
          <a:xfrm>
            <a:off x="8290779" y="3292078"/>
            <a:ext cx="289364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Zetheta FinSight</a:t>
            </a:r>
            <a:endParaRPr/>
          </a:p>
        </p:txBody>
      </p:sp>
      <p:sp>
        <p:nvSpPr>
          <p:cNvPr id="98" name="Google Shape;98;p16"/>
          <p:cNvSpPr txBox="1"/>
          <p:nvPr/>
        </p:nvSpPr>
        <p:spPr>
          <a:xfrm>
            <a:off x="8359675" y="3549253"/>
            <a:ext cx="27558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1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Target Analytics Platform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OAuth 2.0 Secure API</a:t>
            </a:r>
            <a:endParaRPr/>
          </a:p>
        </p:txBody>
      </p:sp>
      <p:sp>
        <p:nvSpPr>
          <p:cNvPr id="99" name="Google Shape;99;p16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High-Level System Architecture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4" name="Google Shape;10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78881"/>
            <a:ext cx="5310187" cy="25669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10312" y="2478881"/>
            <a:ext cx="5310187" cy="2566987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7"/>
          <p:cNvSpPr txBox="1"/>
          <p:nvPr/>
        </p:nvSpPr>
        <p:spPr>
          <a:xfrm>
            <a:off x="914400" y="2821781"/>
            <a:ext cx="485560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Modular Pipeline Design</a:t>
            </a:r>
            <a:endParaRPr/>
          </a:p>
        </p:txBody>
      </p:sp>
      <p:sp>
        <p:nvSpPr>
          <p:cNvPr id="108" name="Google Shape;108;p17"/>
          <p:cNvSpPr txBox="1"/>
          <p:nvPr/>
        </p:nvSpPr>
        <p:spPr>
          <a:xfrm>
            <a:off x="914400" y="3040856"/>
            <a:ext cx="4624387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Separates extraction, validation, transformation, and loading into independent, highly testable micro-services:</a:t>
            </a:r>
            <a:endParaRPr/>
          </a:p>
        </p:txBody>
      </p:sp>
      <p:sp>
        <p:nvSpPr>
          <p:cNvPr id="109" name="Google Shape;109;p17"/>
          <p:cNvSpPr txBox="1"/>
          <p:nvPr/>
        </p:nvSpPr>
        <p:spPr>
          <a:xfrm>
            <a:off x="6653212" y="2821781"/>
            <a:ext cx="485560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Resilient State Control</a:t>
            </a:r>
            <a:endParaRPr/>
          </a:p>
        </p:txBody>
      </p:sp>
      <p:sp>
        <p:nvSpPr>
          <p:cNvPr id="110" name="Google Shape;110;p17"/>
          <p:cNvSpPr txBox="1"/>
          <p:nvPr/>
        </p:nvSpPr>
        <p:spPr>
          <a:xfrm>
            <a:off x="6653212" y="3040856"/>
            <a:ext cx="4624387" cy="728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Maintains transactional state records to ensure zero data loss during network blips or downstream database timeouts, keeping audit trails intact.</a:t>
            </a:r>
            <a:endParaRPr/>
          </a:p>
        </p:txBody>
      </p:sp>
      <p:sp>
        <p:nvSpPr>
          <p:cNvPr id="111" name="Google Shape;111;p17"/>
          <p:cNvSpPr txBox="1"/>
          <p:nvPr/>
        </p:nvSpPr>
        <p:spPr>
          <a:xfrm>
            <a:off x="1181100" y="3669506"/>
            <a:ext cx="4357687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run-pipeline.js orchestration engine.</a:t>
            </a:r>
            <a:endParaRPr/>
          </a:p>
        </p:txBody>
      </p:sp>
      <p:sp>
        <p:nvSpPr>
          <p:cNvPr id="112" name="Google Shape;112;p17"/>
          <p:cNvSpPr txBox="1"/>
          <p:nvPr/>
        </p:nvSpPr>
        <p:spPr>
          <a:xfrm>
            <a:off x="1181100" y="4064793"/>
            <a:ext cx="4357687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Automated deduplication logic preventing duplicate ledger inserts.</a:t>
            </a:r>
            <a:endParaRPr/>
          </a:p>
        </p:txBody>
      </p:sp>
      <p:sp>
        <p:nvSpPr>
          <p:cNvPr id="113" name="Google Shape;113;p17"/>
          <p:cNvSpPr txBox="1"/>
          <p:nvPr/>
        </p:nvSpPr>
        <p:spPr>
          <a:xfrm>
            <a:off x="914400" y="3631406"/>
            <a:ext cx="1428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6366F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4" name="Google Shape;114;p17"/>
          <p:cNvSpPr txBox="1"/>
          <p:nvPr/>
        </p:nvSpPr>
        <p:spPr>
          <a:xfrm>
            <a:off x="914400" y="4026693"/>
            <a:ext cx="1428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6366F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5" name="Google Shape;115;p17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Component Design &amp; Core Pipeline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0" name="Google Shape;12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10312" y="2988468"/>
            <a:ext cx="5310187" cy="15478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8"/>
          <p:cNvSpPr txBox="1"/>
          <p:nvPr/>
        </p:nvSpPr>
        <p:spPr>
          <a:xfrm>
            <a:off x="571500" y="2657475"/>
            <a:ext cx="53103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Successfully mapped over 50+ complex financial fields across 10 core SAP domains:</a:t>
            </a:r>
            <a:endParaRPr/>
          </a:p>
        </p:txBody>
      </p:sp>
      <p:sp>
        <p:nvSpPr>
          <p:cNvPr id="123" name="Google Shape;123;p18"/>
          <p:cNvSpPr txBox="1"/>
          <p:nvPr/>
        </p:nvSpPr>
        <p:spPr>
          <a:xfrm>
            <a:off x="838200" y="3286125"/>
            <a:ext cx="50436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General Ledger &amp; Accounts Payable / Receivable</a:t>
            </a:r>
            <a:endParaRPr/>
          </a:p>
        </p:txBody>
      </p:sp>
      <p:sp>
        <p:nvSpPr>
          <p:cNvPr id="124" name="Google Shape;124;p18"/>
          <p:cNvSpPr txBox="1"/>
          <p:nvPr/>
        </p:nvSpPr>
        <p:spPr>
          <a:xfrm>
            <a:off x="838200" y="3681412"/>
            <a:ext cx="50436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Cost Centre &amp; Profit Centre Hierarchies</a:t>
            </a:r>
            <a:endParaRPr/>
          </a:p>
        </p:txBody>
      </p:sp>
      <p:sp>
        <p:nvSpPr>
          <p:cNvPr id="125" name="Google Shape;125;p18"/>
          <p:cNvSpPr txBox="1"/>
          <p:nvPr/>
        </p:nvSpPr>
        <p:spPr>
          <a:xfrm>
            <a:off x="838200" y="4076700"/>
            <a:ext cx="5043487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Material Ledger &amp; Fixed Assets</a:t>
            </a:r>
            <a:endParaRPr/>
          </a:p>
        </p:txBody>
      </p:sp>
      <p:sp>
        <p:nvSpPr>
          <p:cNvPr id="126" name="Google Shape;126;p18"/>
          <p:cNvSpPr txBox="1"/>
          <p:nvPr/>
        </p:nvSpPr>
        <p:spPr>
          <a:xfrm>
            <a:off x="838200" y="4471987"/>
            <a:ext cx="5043487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Purchase Orders, Sales Orders &amp; Bank Statements</a:t>
            </a:r>
            <a:endParaRPr/>
          </a:p>
        </p:txBody>
      </p:sp>
      <p:sp>
        <p:nvSpPr>
          <p:cNvPr id="127" name="Google Shape;127;p18"/>
          <p:cNvSpPr txBox="1"/>
          <p:nvPr/>
        </p:nvSpPr>
        <p:spPr>
          <a:xfrm>
            <a:off x="6605587" y="3283743"/>
            <a:ext cx="4955619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952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1B4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Special Rule Handling</a:t>
            </a:r>
            <a:endParaRPr/>
          </a:p>
        </p:txBody>
      </p:sp>
      <p:sp>
        <p:nvSpPr>
          <p:cNvPr id="128" name="Google Shape;128;p18"/>
          <p:cNvSpPr txBox="1"/>
          <p:nvPr/>
        </p:nvSpPr>
        <p:spPr>
          <a:xfrm>
            <a:off x="6605587" y="3598068"/>
            <a:ext cx="4719637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Includes automated fiscal period mapping (handling special adjustment periods 13 through 16) and dynamic multi-currency conversions.</a:t>
            </a:r>
            <a:endParaRPr/>
          </a:p>
        </p:txBody>
      </p:sp>
      <p:sp>
        <p:nvSpPr>
          <p:cNvPr id="129" name="Google Shape;129;p18"/>
          <p:cNvSpPr txBox="1"/>
          <p:nvPr/>
        </p:nvSpPr>
        <p:spPr>
          <a:xfrm>
            <a:off x="571500" y="3248025"/>
            <a:ext cx="1428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6366F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30" name="Google Shape;130;p18"/>
          <p:cNvSpPr txBox="1"/>
          <p:nvPr/>
        </p:nvSpPr>
        <p:spPr>
          <a:xfrm>
            <a:off x="571500" y="3643312"/>
            <a:ext cx="1428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6366F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31" name="Google Shape;131;p18"/>
          <p:cNvSpPr txBox="1"/>
          <p:nvPr/>
        </p:nvSpPr>
        <p:spPr>
          <a:xfrm>
            <a:off x="571500" y="4038600"/>
            <a:ext cx="1428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6366F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32" name="Google Shape;132;p18"/>
          <p:cNvSpPr txBox="1"/>
          <p:nvPr/>
        </p:nvSpPr>
        <p:spPr>
          <a:xfrm>
            <a:off x="571500" y="4433887"/>
            <a:ext cx="1428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6366F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pic>
        <p:nvPicPr>
          <p:cNvPr descr="image.png" id="133" name="Google Shape;13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05587" y="3321843"/>
            <a:ext cx="21907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8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 Transformation &amp; Mapping (10 Domains)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9" name="Google Shape;13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52700"/>
            <a:ext cx="3524250" cy="2419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3875" y="2552700"/>
            <a:ext cx="3524250" cy="2419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6250" y="2552700"/>
            <a:ext cx="3524250" cy="24193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9"/>
          <p:cNvSpPr txBox="1"/>
          <p:nvPr/>
        </p:nvSpPr>
        <p:spPr>
          <a:xfrm>
            <a:off x="819150" y="3371850"/>
            <a:ext cx="318039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Error Taxonomy</a:t>
            </a:r>
            <a:endParaRPr/>
          </a:p>
        </p:txBody>
      </p:sp>
      <p:sp>
        <p:nvSpPr>
          <p:cNvPr id="144" name="Google Shape;144;p19"/>
          <p:cNvSpPr txBox="1"/>
          <p:nvPr/>
        </p:nvSpPr>
        <p:spPr>
          <a:xfrm>
            <a:off x="819150" y="3705225"/>
            <a:ext cx="30291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Classified strictly into </a:t>
            </a:r>
            <a:r>
              <a:rPr b="1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TRANSIENT</a:t>
            </a:r>
            <a:r>
              <a:rPr b="0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b="1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PERMANENT</a:t>
            </a:r>
            <a:r>
              <a:rPr b="0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b="1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DATA QUALITY</a:t>
            </a:r>
            <a:r>
              <a:rPr b="0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and </a:t>
            </a:r>
            <a:r>
              <a:rPr b="1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SYSTEM</a:t>
            </a:r>
            <a:r>
              <a:rPr b="0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buckets.</a:t>
            </a:r>
            <a:endParaRPr/>
          </a:p>
        </p:txBody>
      </p:sp>
      <p:sp>
        <p:nvSpPr>
          <p:cNvPr id="145" name="Google Shape;145;p19"/>
          <p:cNvSpPr txBox="1"/>
          <p:nvPr/>
        </p:nvSpPr>
        <p:spPr>
          <a:xfrm>
            <a:off x="4581525" y="3371850"/>
            <a:ext cx="318039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Backoff &amp; Jitter</a:t>
            </a:r>
            <a:endParaRPr/>
          </a:p>
        </p:txBody>
      </p:sp>
      <p:sp>
        <p:nvSpPr>
          <p:cNvPr id="146" name="Google Shape;146;p19"/>
          <p:cNvSpPr txBox="1"/>
          <p:nvPr/>
        </p:nvSpPr>
        <p:spPr>
          <a:xfrm>
            <a:off x="4581525" y="3705225"/>
            <a:ext cx="3029100" cy="9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Exponential backoff with full jitter preventing cascading stampede failures on downstream mock endpoints.</a:t>
            </a:r>
            <a:endParaRPr/>
          </a:p>
        </p:txBody>
      </p:sp>
      <p:sp>
        <p:nvSpPr>
          <p:cNvPr id="147" name="Google Shape;147;p19"/>
          <p:cNvSpPr txBox="1"/>
          <p:nvPr/>
        </p:nvSpPr>
        <p:spPr>
          <a:xfrm>
            <a:off x="8343900" y="3371850"/>
            <a:ext cx="318039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Dead-Letter Queue</a:t>
            </a:r>
            <a:endParaRPr/>
          </a:p>
        </p:txBody>
      </p:sp>
      <p:sp>
        <p:nvSpPr>
          <p:cNvPr id="148" name="Google Shape;148;p19"/>
          <p:cNvSpPr txBox="1"/>
          <p:nvPr/>
        </p:nvSpPr>
        <p:spPr>
          <a:xfrm>
            <a:off x="8343900" y="3705225"/>
            <a:ext cx="30291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Automatic quarantine of malformed payloads for investigation without halting batch throughput.</a:t>
            </a:r>
            <a:endParaRPr/>
          </a:p>
        </p:txBody>
      </p:sp>
      <p:pic>
        <p:nvPicPr>
          <p:cNvPr descr="image.png" id="149" name="Google Shape;149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9150" y="287655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81525" y="287655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43900" y="287655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Error Handling &amp; Resilience Strategy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7" name="Google Shape;15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945606"/>
            <a:ext cx="5310187" cy="16335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10312" y="2945606"/>
            <a:ext cx="5310187" cy="1633537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0"/>
          <p:cNvSpPr txBox="1"/>
          <p:nvPr/>
        </p:nvSpPr>
        <p:spPr>
          <a:xfrm>
            <a:off x="914400" y="3288506"/>
            <a:ext cx="485560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 Dimensions of Reconciliation</a:t>
            </a:r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914400" y="3507581"/>
            <a:ext cx="46245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Automated checks verifying </a:t>
            </a:r>
            <a:r>
              <a:rPr b="1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Completeness</a:t>
            </a:r>
            <a:r>
              <a:rPr b="0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b="1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Accuracy</a:t>
            </a:r>
            <a:r>
              <a:rPr b="0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b="1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Timeliness</a:t>
            </a:r>
            <a:r>
              <a:rPr b="0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and </a:t>
            </a:r>
            <a:r>
              <a:rPr b="1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Consistency</a:t>
            </a:r>
            <a:r>
              <a:rPr b="0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matching source debits/credits to target down to 0.00 variance.</a:t>
            </a:r>
            <a:endParaRPr/>
          </a:p>
        </p:txBody>
      </p:sp>
      <p:sp>
        <p:nvSpPr>
          <p:cNvPr id="162" name="Google Shape;162;p20"/>
          <p:cNvSpPr txBox="1"/>
          <p:nvPr/>
        </p:nvSpPr>
        <p:spPr>
          <a:xfrm>
            <a:off x="6653212" y="3288506"/>
            <a:ext cx="485560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Strict Validation Rules</a:t>
            </a:r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6653212" y="3507581"/>
            <a:ext cx="46245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25+ automated data quality validations covering null checks, strict date formatting (YYYY-MM-DD), document ID formats, and tax code compliance.</a:t>
            </a:r>
            <a:endParaRPr/>
          </a:p>
        </p:txBody>
      </p:sp>
      <p:sp>
        <p:nvSpPr>
          <p:cNvPr id="164" name="Google Shape;164;p20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Reconciliation &amp; Data Quality Framework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9" name="Google Shape;16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10312" y="3175694"/>
            <a:ext cx="5310187" cy="117336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1"/>
          <p:cNvSpPr txBox="1"/>
          <p:nvPr/>
        </p:nvSpPr>
        <p:spPr>
          <a:xfrm>
            <a:off x="571500" y="2750343"/>
            <a:ext cx="5575696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Observability Stack</a:t>
            </a:r>
            <a:endParaRPr/>
          </a:p>
        </p:txBody>
      </p:sp>
      <p:sp>
        <p:nvSpPr>
          <p:cNvPr id="172" name="Google Shape;172;p21"/>
          <p:cNvSpPr txBox="1"/>
          <p:nvPr/>
        </p:nvSpPr>
        <p:spPr>
          <a:xfrm>
            <a:off x="838200" y="3102768"/>
            <a:ext cx="5043487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Structured Logging:</a:t>
            </a:r>
            <a:r>
              <a:rPr b="0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Enforces 12 mandatory metadata fields including distributed correlation_id tracking.</a:t>
            </a:r>
            <a:endParaRPr/>
          </a:p>
        </p:txBody>
      </p:sp>
      <p:sp>
        <p:nvSpPr>
          <p:cNvPr id="173" name="Google Shape;173;p21"/>
          <p:cNvSpPr txBox="1"/>
          <p:nvPr/>
        </p:nvSpPr>
        <p:spPr>
          <a:xfrm>
            <a:off x="838200" y="3740943"/>
            <a:ext cx="5043487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Grafana Panels:</a:t>
            </a:r>
            <a:r>
              <a:rPr b="0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12 dedicated dashboards tracking throughput, P95 latency, and error spikes.</a:t>
            </a:r>
            <a:endParaRPr/>
          </a:p>
        </p:txBody>
      </p:sp>
      <p:sp>
        <p:nvSpPr>
          <p:cNvPr id="174" name="Google Shape;174;p21"/>
          <p:cNvSpPr txBox="1"/>
          <p:nvPr/>
        </p:nvSpPr>
        <p:spPr>
          <a:xfrm>
            <a:off x="838200" y="4379118"/>
            <a:ext cx="5043487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PagerDuty / Slack:</a:t>
            </a:r>
            <a:r>
              <a:rPr b="0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Severity-based automated alert routing.</a:t>
            </a:r>
            <a:endParaRPr/>
          </a:p>
        </p:txBody>
      </p:sp>
      <p:sp>
        <p:nvSpPr>
          <p:cNvPr id="175" name="Google Shape;175;p21"/>
          <p:cNvSpPr txBox="1"/>
          <p:nvPr/>
        </p:nvSpPr>
        <p:spPr>
          <a:xfrm>
            <a:off x="6557962" y="3375719"/>
            <a:ext cx="20574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Fira Code"/>
                <a:ea typeface="Fira Code"/>
                <a:cs typeface="Fira Code"/>
                <a:sym typeface="Fira Code"/>
              </a:rPr>
              <a:t>[INFO] 2026-06-06T14:22:10Z</a:t>
            </a:r>
            <a:endParaRPr/>
          </a:p>
        </p:txBody>
      </p:sp>
      <p:sp>
        <p:nvSpPr>
          <p:cNvPr id="176" name="Google Shape;176;p21"/>
          <p:cNvSpPr txBox="1"/>
          <p:nvPr/>
        </p:nvSpPr>
        <p:spPr>
          <a:xfrm>
            <a:off x="6557962" y="3569047"/>
            <a:ext cx="13716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472B6"/>
                </a:solidFill>
                <a:latin typeface="Fira Code"/>
                <a:ea typeface="Fira Code"/>
                <a:cs typeface="Fira Code"/>
                <a:sym typeface="Fira Code"/>
              </a:rPr>
              <a:t>corr_id=c4a91-881b</a:t>
            </a:r>
            <a:endParaRPr/>
          </a:p>
        </p:txBody>
      </p:sp>
      <p:sp>
        <p:nvSpPr>
          <p:cNvPr id="177" name="Google Shape;177;p21"/>
          <p:cNvSpPr txBox="1"/>
          <p:nvPr/>
        </p:nvSpPr>
        <p:spPr>
          <a:xfrm>
            <a:off x="8462962" y="3569047"/>
            <a:ext cx="11430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ADE80"/>
                </a:solidFill>
                <a:latin typeface="Fira Code SemiBold"/>
                <a:ea typeface="Fira Code SemiBold"/>
                <a:cs typeface="Fira Code SemiBold"/>
                <a:sym typeface="Fira Code SemiBold"/>
              </a:rPr>
              <a:t>BATCH_PROCESSED</a:t>
            </a:r>
            <a:endParaRPr/>
          </a:p>
        </p:txBody>
      </p:sp>
      <p:sp>
        <p:nvSpPr>
          <p:cNvPr id="178" name="Google Shape;178;p21"/>
          <p:cNvSpPr txBox="1"/>
          <p:nvPr/>
        </p:nvSpPr>
        <p:spPr>
          <a:xfrm>
            <a:off x="8539162" y="3955702"/>
            <a:ext cx="5334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ADE80"/>
                </a:solidFill>
                <a:latin typeface="Fira Code SemiBold"/>
                <a:ea typeface="Fira Code SemiBold"/>
                <a:cs typeface="Fira Code SemiBold"/>
                <a:sym typeface="Fira Code SemiBold"/>
              </a:rPr>
              <a:t>HEALTHY</a:t>
            </a:r>
            <a:endParaRPr/>
          </a:p>
        </p:txBody>
      </p:sp>
      <p:sp>
        <p:nvSpPr>
          <p:cNvPr id="179" name="Google Shape;179;p21"/>
          <p:cNvSpPr txBox="1"/>
          <p:nvPr/>
        </p:nvSpPr>
        <p:spPr>
          <a:xfrm>
            <a:off x="571500" y="3064668"/>
            <a:ext cx="1428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6366F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0" name="Google Shape;180;p21"/>
          <p:cNvSpPr txBox="1"/>
          <p:nvPr/>
        </p:nvSpPr>
        <p:spPr>
          <a:xfrm>
            <a:off x="571500" y="3702843"/>
            <a:ext cx="1428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6366F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1" name="Google Shape;181;p21"/>
          <p:cNvSpPr txBox="1"/>
          <p:nvPr/>
        </p:nvSpPr>
        <p:spPr>
          <a:xfrm>
            <a:off x="571500" y="4341018"/>
            <a:ext cx="1428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6366F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2" name="Google Shape;182;p21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Monitoring, Metrics &amp; Alerting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7" name="Google Shape;18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74143"/>
            <a:ext cx="3524250" cy="21764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33875" y="2674143"/>
            <a:ext cx="3524250" cy="21764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6250" y="2674143"/>
            <a:ext cx="3524250" cy="2176462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2"/>
          <p:cNvSpPr txBox="1"/>
          <p:nvPr/>
        </p:nvSpPr>
        <p:spPr>
          <a:xfrm>
            <a:off x="819150" y="3493293"/>
            <a:ext cx="318039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Functional Workflows</a:t>
            </a:r>
            <a:endParaRPr/>
          </a:p>
        </p:txBody>
      </p:sp>
      <p:sp>
        <p:nvSpPr>
          <p:cNvPr id="192" name="Google Shape;192;p22"/>
          <p:cNvSpPr txBox="1"/>
          <p:nvPr/>
        </p:nvSpPr>
        <p:spPr>
          <a:xfrm>
            <a:off x="819150" y="3826668"/>
            <a:ext cx="30291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Verifying full end-to-end extraction, transformation, and ingestion across all financial domain tables.</a:t>
            </a:r>
            <a:endParaRPr/>
          </a:p>
        </p:txBody>
      </p:sp>
      <p:sp>
        <p:nvSpPr>
          <p:cNvPr id="193" name="Google Shape;193;p22"/>
          <p:cNvSpPr txBox="1"/>
          <p:nvPr/>
        </p:nvSpPr>
        <p:spPr>
          <a:xfrm>
            <a:off x="4581525" y="3493293"/>
            <a:ext cx="318039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Failure Injection</a:t>
            </a:r>
            <a:endParaRPr/>
          </a:p>
        </p:txBody>
      </p:sp>
      <p:sp>
        <p:nvSpPr>
          <p:cNvPr id="194" name="Google Shape;194;p22"/>
          <p:cNvSpPr txBox="1"/>
          <p:nvPr/>
        </p:nvSpPr>
        <p:spPr>
          <a:xfrm>
            <a:off x="4581525" y="3826668"/>
            <a:ext cx="30291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Testing deliberate network timeouts, HTTP 500/503 errors, and corrupted batch structures to test resilience.</a:t>
            </a:r>
            <a:endParaRPr/>
          </a:p>
        </p:txBody>
      </p:sp>
      <p:sp>
        <p:nvSpPr>
          <p:cNvPr id="195" name="Google Shape;195;p22"/>
          <p:cNvSpPr txBox="1"/>
          <p:nvPr/>
        </p:nvSpPr>
        <p:spPr>
          <a:xfrm>
            <a:off x="8343900" y="3493293"/>
            <a:ext cx="318039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Mock Sandbox Servers</a:t>
            </a:r>
            <a:endParaRPr/>
          </a:p>
        </p:txBody>
      </p:sp>
      <p:sp>
        <p:nvSpPr>
          <p:cNvPr id="196" name="Google Shape;196;p22"/>
          <p:cNvSpPr txBox="1"/>
          <p:nvPr/>
        </p:nvSpPr>
        <p:spPr>
          <a:xfrm>
            <a:off x="8343900" y="3826668"/>
            <a:ext cx="30291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Dedicated local test servers (`sap-mock-server.js` on 4001,</a:t>
            </a:r>
            <a:endParaRPr/>
          </a:p>
        </p:txBody>
      </p:sp>
      <p:pic>
        <p:nvPicPr>
          <p:cNvPr descr="image.png" id="197" name="Google Shape;197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" y="2997993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81525" y="2997993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43900" y="2997993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2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Comprehensive Test Suite Design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3"/>
          <p:cNvSpPr txBox="1"/>
          <p:nvPr/>
        </p:nvSpPr>
        <p:spPr>
          <a:xfrm>
            <a:off x="571500" y="476250"/>
            <a:ext cx="11601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End-to-End System Execution &amp; Proof of Work </a:t>
            </a:r>
            <a:endParaRPr/>
          </a:p>
        </p:txBody>
      </p:sp>
      <p:sp>
        <p:nvSpPr>
          <p:cNvPr id="206" name="Google Shape;206;p23"/>
          <p:cNvSpPr txBox="1"/>
          <p:nvPr/>
        </p:nvSpPr>
        <p:spPr>
          <a:xfrm>
            <a:off x="216850" y="891750"/>
            <a:ext cx="11956200" cy="6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2"/>
                </a:solidFill>
                <a:highlight>
                  <a:schemeClr val="lt1"/>
                </a:highlight>
              </a:rPr>
              <a:t>1. Smoke Test &amp; Health Verification</a:t>
            </a:r>
            <a:endParaRPr sz="11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-US" sz="1100">
                <a:solidFill>
                  <a:schemeClr val="dk2"/>
                </a:solidFill>
                <a:highlight>
                  <a:schemeClr val="lt1"/>
                </a:highlight>
              </a:rPr>
              <a:t>Service health checks confirmed the SAP mock server is reachable.</a:t>
            </a:r>
            <a:endParaRPr sz="11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-US" sz="1100">
                <a:solidFill>
                  <a:schemeClr val="dk2"/>
                </a:solidFill>
                <a:highlight>
                  <a:schemeClr val="lt1"/>
                </a:highlight>
              </a:rPr>
              <a:t>End-to-end test record flow loaded successfully to FinSight.</a:t>
            </a:r>
            <a:endParaRPr sz="11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-US" sz="1100">
                <a:solidFill>
                  <a:schemeClr val="dk2"/>
                </a:solidFill>
                <a:highlight>
                  <a:schemeClr val="lt1"/>
                </a:highlight>
              </a:rPr>
              <a:t>Reconciliation check returned RECONCILED status.</a:t>
            </a:r>
            <a:endParaRPr sz="11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2"/>
                </a:solidFill>
                <a:highlight>
                  <a:schemeClr val="lt1"/>
                </a:highlight>
              </a:rPr>
              <a:t>2. Pipeline Batch Execution &amp; Deduplication</a:t>
            </a:r>
            <a:endParaRPr sz="11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-US" sz="1100">
                <a:solidFill>
                  <a:schemeClr val="dk2"/>
                </a:solidFill>
                <a:highlight>
                  <a:schemeClr val="lt1"/>
                </a:highlight>
              </a:rPr>
              <a:t>Extracted 10 records from SAP, transformed them, and attempted batch loading.</a:t>
            </a:r>
            <a:endParaRPr sz="11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-US" sz="1100">
                <a:solidFill>
                  <a:schemeClr val="dk2"/>
                </a:solidFill>
                <a:highlight>
                  <a:schemeClr val="lt1"/>
                </a:highlight>
              </a:rPr>
              <a:t>Successfully identified and isolated a duplicate entry (Load failed for MC01-2026-5000000000: DUPLICATE_ENTRY).</a:t>
            </a:r>
            <a:endParaRPr sz="11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-US" sz="1100">
                <a:solidFill>
                  <a:schemeClr val="dk2"/>
                </a:solidFill>
                <a:highlight>
                  <a:schemeClr val="lt1"/>
                </a:highlight>
              </a:rPr>
              <a:t>Completed batch processing with 9 records loaded, 1 duplicate caught, and 0 failures.</a:t>
            </a:r>
            <a:endParaRPr sz="11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2"/>
                </a:solidFill>
                <a:highlight>
                  <a:schemeClr val="lt1"/>
                </a:highlight>
              </a:rPr>
              <a:t>3. Fiscal Period Mapping (TST-FNC-005)</a:t>
            </a:r>
            <a:endParaRPr sz="11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-US" sz="1100">
                <a:solidFill>
                  <a:schemeClr val="dk2"/>
                </a:solidFill>
                <a:highlight>
                  <a:schemeClr val="lt1"/>
                </a:highlight>
              </a:rPr>
              <a:t>Mapped standard periods (Period 001 and 012 marked as specialPeriod: false).</a:t>
            </a:r>
            <a:endParaRPr sz="11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-US" sz="1100">
                <a:solidFill>
                  <a:schemeClr val="dk2"/>
                </a:solidFill>
                <a:highlight>
                  <a:schemeClr val="lt1"/>
                </a:highlight>
              </a:rPr>
              <a:t>Handled special adjustment periods (Period 013 and 016 correctly mapped to fiscal period 012 with specialPeriod: true).</a:t>
            </a:r>
            <a:endParaRPr sz="11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-US" sz="1100">
                <a:solidFill>
                  <a:schemeClr val="dk2"/>
                </a:solidFill>
                <a:highlight>
                  <a:schemeClr val="lt1"/>
                </a:highlight>
              </a:rPr>
              <a:t>Passed all 4 out of 4 test assertions.</a:t>
            </a:r>
            <a:endParaRPr sz="11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2"/>
                </a:solidFill>
                <a:highlight>
                  <a:schemeClr val="lt1"/>
                </a:highlight>
              </a:rPr>
              <a:t>4. Resilience, Retries &amp; Dead-Letter Queue (DLQ)</a:t>
            </a:r>
            <a:endParaRPr sz="11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-US" sz="1100">
                <a:solidFill>
                  <a:schemeClr val="dk2"/>
                </a:solidFill>
                <a:highlight>
                  <a:schemeClr val="lt1"/>
                </a:highlight>
              </a:rPr>
              <a:t>Verified exponential backoff recovery where temporary service failures succeeded on the 3rd attempt after calculated jitter delays (23ms, 307ms).</a:t>
            </a:r>
            <a:endParaRPr sz="11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-US" sz="1100">
                <a:solidFill>
                  <a:schemeClr val="dk2"/>
                </a:solidFill>
                <a:highlight>
                  <a:schemeClr val="lt1"/>
                </a:highlight>
              </a:rPr>
              <a:t>Routed permanent mapping errors directly to the DLQ (dlq-gl-entries) without triggering infinite retry loops, maintaining a final DLQ depth of 1.</a:t>
            </a:r>
            <a:endParaRPr sz="11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-US" sz="1100">
                <a:solidFill>
                  <a:schemeClr val="dk2"/>
                </a:solidFill>
                <a:highlight>
                  <a:schemeClr val="lt1"/>
                </a:highlight>
              </a:rPr>
              <a:t>Malformed batch testing successfully quarantined 10 corrupted test rows (TST-FLR-004: PASS).</a:t>
            </a:r>
            <a:endParaRPr sz="11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2"/>
                </a:solidFill>
                <a:highlight>
                  <a:schemeClr val="lt1"/>
                </a:highlight>
              </a:rPr>
              <a:t>5. Reconciliation &amp; Data Quality Framework</a:t>
            </a:r>
            <a:endParaRPr sz="11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-US" sz="1100">
                <a:solidFill>
                  <a:schemeClr val="dk2"/>
                </a:solidFill>
                <a:highlight>
                  <a:schemeClr val="lt1"/>
                </a:highlight>
              </a:rPr>
              <a:t>Clean batch reconciliation balanced source and target debits/credits perfectly at 10,000.00 with a variance of 0.00 (RECONCILED).</a:t>
            </a:r>
            <a:endParaRPr sz="11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-US" sz="1100">
                <a:solidFill>
                  <a:schemeClr val="dk2"/>
                </a:solidFill>
                <a:highlight>
                  <a:schemeClr val="lt1"/>
                </a:highlight>
              </a:rPr>
              <a:t>Variance testing correctly triggered a BREAK status when downstream credit amounts dropped to 9,995.50.</a:t>
            </a:r>
            <a:endParaRPr sz="11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-US" sz="1100">
                <a:solidFill>
                  <a:schemeClr val="dk2"/>
                </a:solidFill>
                <a:highlight>
                  <a:schemeClr val="lt1"/>
                </a:highlight>
              </a:rPr>
              <a:t>Data quality checks successfully caught missing required amounts (amountLC), invalid date formats (YYYY-MM-DD), incorrect document IDs, and malformed GSTIN structures.</a:t>
            </a:r>
            <a:endParaRPr sz="11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2"/>
                </a:solidFill>
                <a:highlight>
                  <a:schemeClr val="lt1"/>
                </a:highlight>
              </a:rPr>
              <a:t>6. Observability &amp; Telemetry Metrics</a:t>
            </a:r>
            <a:endParaRPr sz="11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-US" sz="1100">
                <a:solidFill>
                  <a:schemeClr val="dk2"/>
                </a:solidFill>
                <a:highlight>
                  <a:schemeClr val="lt1"/>
                </a:highlight>
              </a:rPr>
              <a:t>Structured logging actively enforced 12 mandatory metadata fields including correlationId, batchId, domain, and execution durationMs.</a:t>
            </a:r>
            <a:endParaRPr sz="11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-US" sz="1100">
                <a:solidFill>
                  <a:schemeClr val="dk2"/>
                </a:solidFill>
                <a:highlight>
                  <a:schemeClr val="lt1"/>
                </a:highlight>
              </a:rPr>
              <a:t>Dashboard summary telemetry reported a throughput of 0.17 records/sec, P95 latency of 500ms, and a tracked error rate of 10.00%.</a:t>
            </a:r>
            <a:endParaRPr sz="1100">
              <a:solidFill>
                <a:schemeClr val="dk2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4"/>
          <p:cNvSpPr txBox="1"/>
          <p:nvPr/>
        </p:nvSpPr>
        <p:spPr>
          <a:xfrm>
            <a:off x="0" y="0"/>
            <a:ext cx="95349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Conclusion &amp; Project Hand-Off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12" name="Google Shape;212;p24"/>
          <p:cNvSpPr txBox="1"/>
          <p:nvPr/>
        </p:nvSpPr>
        <p:spPr>
          <a:xfrm>
            <a:off x="121975" y="779325"/>
            <a:ext cx="7813500" cy="5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Conclusion &amp; Enterprise Project Handoff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</a:rPr>
              <a:t>Project Overview &amp; Strategic Impact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 sz="1100">
                <a:solidFill>
                  <a:schemeClr val="dk1"/>
                </a:solidFill>
              </a:rPr>
              <a:t>Successfully designed, built, and rigorously tested an enterprise-grade integration pipeline connecting SAP S/4HANA ODP delta streams directly to the Zetheta FinSight analytics platform.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 sz="1100">
                <a:solidFill>
                  <a:schemeClr val="dk1"/>
                </a:solidFill>
              </a:rPr>
              <a:t>Completely eliminated vulnerable, fragmented manual workflows by establishing a fully automated, asynchronous data transport and transformation layer.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</a:rPr>
              <a:t>Measurable Business Value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 sz="1100">
                <a:solidFill>
                  <a:schemeClr val="dk1"/>
                </a:solidFill>
              </a:rPr>
              <a:t>Eliminated 120 hours of repetitive monthly manual reconciliation overhead for finance teams.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 sz="1100">
                <a:solidFill>
                  <a:schemeClr val="dk1"/>
                </a:solidFill>
              </a:rPr>
              <a:t>Achieved a 95% reduction in cross-domain data errors by implementing strict schema rules, multi-field mappings across 10 financial domains, and real-time data quality checks.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 sz="1100">
                <a:solidFill>
                  <a:schemeClr val="dk1"/>
                </a:solidFill>
              </a:rPr>
              <a:t>Protected liquidity operations and compliance metrics with zero data loss, exact transaction balancing, and automated anomaly isolation.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</a:rPr>
              <a:t>Technical Robustness &amp; Production Readiness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 sz="1100">
                <a:solidFill>
                  <a:schemeClr val="dk1"/>
                </a:solidFill>
              </a:rPr>
              <a:t>Validated through an extensive test suite verifying exponential backoff retry policies, jitter calculation, and Dead-Letter Queue (DLQ) quarantine routines.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 sz="1100">
                <a:solidFill>
                  <a:schemeClr val="dk1"/>
                </a:solidFill>
              </a:rPr>
              <a:t>Backed by full observability frameworks including structured logging with mandatory correlation IDs, Prometheus/Grafana dashboard metrics, and severity-based alert routing.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</a:rPr>
              <a:t>Project Handoff &amp; Next Steps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 sz="1100">
                <a:solidFill>
                  <a:schemeClr val="dk1"/>
                </a:solidFill>
              </a:rPr>
              <a:t>Complete source code repository, mock sandbox servers, and automated test scripts packaged and ready for immediate technical handoff to client engineering teams.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 sz="1100">
                <a:solidFill>
                  <a:schemeClr val="dk1"/>
                </a:solidFill>
              </a:rPr>
              <a:t>Operational runbooks, pre-deployment checklists, and maintenance protocols transferred for seamless long-term administration.</a:t>
            </a:r>
            <a:endParaRPr sz="1100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Thank You!</a:t>
            </a:r>
            <a:endParaRPr b="1" sz="1100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chemeClr val="dk1"/>
                </a:solidFill>
              </a:rPr>
              <a:t>The floor is now open for questions, code walkthroughs, and technical deep dives.</a:t>
            </a:r>
            <a:endParaRPr i="1" sz="1100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